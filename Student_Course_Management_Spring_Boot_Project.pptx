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Course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Spring Boot Project Presentation</a:t>
            </a:r>
          </a:p>
          <a:p>
            <a:pPr>
              <a:defRPr sz="2200"/>
            </a:pPr>
            <a:r>
              <a:t>REST API based web application</a:t>
            </a:r>
          </a:p>
          <a:p>
            <a:pPr>
              <a:defRPr sz="2200"/>
            </a:pPr>
            <a:r>
              <a:t>Technologies: Java, Spring Boot, MySQL, JPA/Hibernate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Manages student and course information</a:t>
            </a:r>
          </a:p>
          <a:p>
            <a:pPr>
              <a:spcAft>
                <a:spcPts val="800"/>
              </a:spcAft>
              <a:defRPr sz="2200"/>
            </a:pPr>
            <a:r>
              <a:t>Provides CRUD operations through REST APIs</a:t>
            </a:r>
          </a:p>
          <a:p>
            <a:pPr>
              <a:spcAft>
                <a:spcPts val="800"/>
              </a:spcAft>
              <a:defRPr sz="2200"/>
            </a:pPr>
            <a:r>
              <a:t>Connects Spring Boot application with MySQL database</a:t>
            </a:r>
          </a:p>
          <a:p>
            <a:pPr>
              <a:spcAft>
                <a:spcPts val="800"/>
              </a:spcAft>
              <a:defRPr sz="2200"/>
            </a:pPr>
            <a:r>
              <a:t>API testing can be performed using Postman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Manual student and course management is time-consuming</a:t>
            </a:r>
          </a:p>
          <a:p>
            <a:pPr>
              <a:spcAft>
                <a:spcPts val="800"/>
              </a:spcAft>
              <a:defRPr sz="2200"/>
            </a:pPr>
            <a:r>
              <a:t>Data can become difficult to maintain and search</a:t>
            </a:r>
          </a:p>
          <a:p>
            <a:pPr>
              <a:spcAft>
                <a:spcPts val="800"/>
              </a:spcAft>
              <a:defRPr sz="2200"/>
            </a:pPr>
            <a:r>
              <a:t>Need a centralized system for reliable data management</a:t>
            </a:r>
          </a:p>
          <a:p>
            <a:pPr>
              <a:spcAft>
                <a:spcPts val="800"/>
              </a:spcAft>
              <a:defRPr sz="2200"/>
            </a:pPr>
            <a:r>
              <a:t>REST APIs provide easy integration with client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Create a simple and maintainable Spring Boot application</a:t>
            </a:r>
          </a:p>
          <a:p>
            <a:pPr>
              <a:spcAft>
                <a:spcPts val="800"/>
              </a:spcAft>
              <a:defRPr sz="2200"/>
            </a:pPr>
            <a:r>
              <a:t>Implement Student and Course management</a:t>
            </a:r>
          </a:p>
          <a:p>
            <a:pPr>
              <a:spcAft>
                <a:spcPts val="800"/>
              </a:spcAft>
              <a:defRPr sz="2200"/>
            </a:pPr>
            <a:r>
              <a:t>Use DTOs for request and response data</a:t>
            </a:r>
          </a:p>
          <a:p>
            <a:pPr>
              <a:spcAft>
                <a:spcPts val="800"/>
              </a:spcAft>
              <a:defRPr sz="2200"/>
            </a:pPr>
            <a:r>
              <a:t>Add validation and exception handling</a:t>
            </a:r>
          </a:p>
          <a:p>
            <a:pPr>
              <a:spcAft>
                <a:spcPts val="800"/>
              </a:spcAft>
              <a:defRPr sz="2200"/>
            </a:pPr>
            <a:r>
              <a:t>Document and test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Backend: Java + Spring Boot</a:t>
            </a:r>
          </a:p>
          <a:p>
            <a:pPr>
              <a:spcAft>
                <a:spcPts val="800"/>
              </a:spcAft>
              <a:defRPr sz="2200"/>
            </a:pPr>
            <a:r>
              <a:t>Database: MySQL</a:t>
            </a:r>
          </a:p>
          <a:p>
            <a:pPr>
              <a:spcAft>
                <a:spcPts val="800"/>
              </a:spcAft>
              <a:defRPr sz="2200"/>
            </a:pPr>
            <a:r>
              <a:t>ORM: Spring Data JPA / Hibernate</a:t>
            </a:r>
          </a:p>
          <a:p>
            <a:pPr>
              <a:spcAft>
                <a:spcPts val="800"/>
              </a:spcAft>
              <a:defRPr sz="2200"/>
            </a:pPr>
            <a:r>
              <a:t>Build Tool: Maven</a:t>
            </a:r>
          </a:p>
          <a:p>
            <a:pPr>
              <a:spcAft>
                <a:spcPts val="800"/>
              </a:spcAft>
              <a:defRPr sz="2200"/>
            </a:pPr>
            <a:r>
              <a:t>Testing: Postman</a:t>
            </a:r>
          </a:p>
          <a:p>
            <a:pPr>
              <a:spcAft>
                <a:spcPts val="800"/>
              </a:spcAft>
              <a:defRPr sz="2200"/>
            </a:pPr>
            <a:r>
              <a:t>Documentation: Swagger / OpenAPI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Client / Postman</a:t>
            </a:r>
          </a:p>
          <a:p>
            <a:pPr lvl="1">
              <a:spcAft>
                <a:spcPts val="800"/>
              </a:spcAft>
              <a:defRPr sz="1900"/>
            </a:pPr>
            <a:r>
              <a:t>        ↓</a:t>
            </a:r>
          </a:p>
          <a:p>
            <a:pPr>
              <a:spcAft>
                <a:spcPts val="800"/>
              </a:spcAft>
              <a:defRPr sz="1900"/>
            </a:pPr>
            <a:r>
              <a:t>Controller Layer → REST API endpoints</a:t>
            </a:r>
          </a:p>
          <a:p>
            <a:pPr lvl="1">
              <a:spcAft>
                <a:spcPts val="800"/>
              </a:spcAft>
              <a:defRPr sz="1900"/>
            </a:pPr>
            <a:r>
              <a:t>        ↓</a:t>
            </a:r>
          </a:p>
          <a:p>
            <a:pPr>
              <a:spcAft>
                <a:spcPts val="800"/>
              </a:spcAft>
              <a:defRPr sz="1900"/>
            </a:pPr>
            <a:r>
              <a:t>Service Layer → Business logic</a:t>
            </a:r>
          </a:p>
          <a:p>
            <a:pPr lvl="1">
              <a:spcAft>
                <a:spcPts val="800"/>
              </a:spcAft>
              <a:defRPr sz="1900"/>
            </a:pPr>
            <a:r>
              <a:t>        ↓</a:t>
            </a:r>
          </a:p>
          <a:p>
            <a:pPr>
              <a:spcAft>
                <a:spcPts val="800"/>
              </a:spcAft>
              <a:defRPr sz="1900"/>
            </a:pPr>
            <a:r>
              <a:t>Repository Layer → Database operations</a:t>
            </a:r>
          </a:p>
          <a:p>
            <a:pPr lvl="1">
              <a:spcAft>
                <a:spcPts val="800"/>
              </a:spcAft>
              <a:defRPr sz="1900"/>
            </a:pPr>
            <a:r>
              <a:t>        ↓</a:t>
            </a:r>
          </a:p>
          <a:p>
            <a:pPr>
              <a:spcAft>
                <a:spcPts val="800"/>
              </a:spcAft>
              <a:defRPr sz="1900"/>
            </a:pPr>
            <a:r>
              <a:t>MySQL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controller – handles HTTP requests</a:t>
            </a:r>
          </a:p>
          <a:p>
            <a:pPr>
              <a:spcAft>
                <a:spcPts val="800"/>
              </a:spcAft>
              <a:defRPr sz="1900"/>
            </a:pPr>
            <a:r>
              <a:t>service – contains business logic</a:t>
            </a:r>
          </a:p>
          <a:p>
            <a:pPr>
              <a:spcAft>
                <a:spcPts val="800"/>
              </a:spcAft>
              <a:defRPr sz="1900"/>
            </a:pPr>
            <a:r>
              <a:t>repository – database access</a:t>
            </a:r>
          </a:p>
          <a:p>
            <a:pPr>
              <a:spcAft>
                <a:spcPts val="800"/>
              </a:spcAft>
              <a:defRPr sz="1900"/>
            </a:pPr>
            <a:r>
              <a:t>entity – database entities</a:t>
            </a:r>
          </a:p>
          <a:p>
            <a:pPr>
              <a:spcAft>
                <a:spcPts val="800"/>
              </a:spcAft>
              <a:defRPr sz="1900"/>
            </a:pPr>
            <a:r>
              <a:t>dto – request and response objects</a:t>
            </a:r>
          </a:p>
          <a:p>
            <a:pPr>
              <a:spcAft>
                <a:spcPts val="800"/>
              </a:spcAft>
              <a:defRPr sz="1900"/>
            </a:pPr>
            <a:r>
              <a:t>exception – custom exception handling</a:t>
            </a:r>
          </a:p>
          <a:p>
            <a:pPr>
              <a:spcAft>
                <a:spcPts val="800"/>
              </a:spcAft>
              <a:defRPr sz="1900"/>
            </a:pPr>
            <a:r>
              <a:t>config / aspect – supporting configuration and AOP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&amp; 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Student: id, name, email and other required fields</a:t>
            </a:r>
          </a:p>
          <a:p>
            <a:pPr>
              <a:spcAft>
                <a:spcPts val="800"/>
              </a:spcAft>
              <a:defRPr sz="2200"/>
            </a:pPr>
            <a:r>
              <a:t>Course: id, course name, duration and other required fields</a:t>
            </a:r>
          </a:p>
          <a:p>
            <a:pPr>
              <a:spcAft>
                <a:spcPts val="800"/>
              </a:spcAft>
              <a:defRPr sz="2200"/>
            </a:pPr>
            <a:r>
              <a:t>JPA annotations map Java classes to database tables</a:t>
            </a:r>
          </a:p>
          <a:p>
            <a:pPr>
              <a:spcAft>
                <a:spcPts val="800"/>
              </a:spcAft>
              <a:defRPr sz="2200"/>
            </a:pPr>
            <a:r>
              <a:t>Relationships can be implemented according to project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DTO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Request DTO receives client input</a:t>
            </a:r>
          </a:p>
          <a:p>
            <a:pPr>
              <a:spcAft>
                <a:spcPts val="800"/>
              </a:spcAft>
              <a:defRPr sz="2200"/>
            </a:pPr>
            <a:r>
              <a:t>Response DTO controls data returned to clients</a:t>
            </a:r>
          </a:p>
          <a:p>
            <a:pPr>
              <a:spcAft>
                <a:spcPts val="800"/>
              </a:spcAft>
              <a:defRPr sz="2200"/>
            </a:pPr>
            <a:r>
              <a:t>Bean Validation checks input before processing</a:t>
            </a:r>
          </a:p>
          <a:p>
            <a:pPr>
              <a:spcAft>
                <a:spcPts val="800"/>
              </a:spcAft>
              <a:defRPr sz="2200"/>
            </a:pPr>
            <a:r>
              <a:t>Examples: @NotBlank, @Email, @Size, @Min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Contains the application's business logic</a:t>
            </a:r>
          </a:p>
          <a:p>
            <a:pPr>
              <a:spcAft>
                <a:spcPts val="800"/>
              </a:spcAft>
              <a:defRPr sz="2200"/>
            </a:pPr>
            <a:r>
              <a:t>Calls repository methods for database operations</a:t>
            </a:r>
          </a:p>
          <a:p>
            <a:pPr>
              <a:spcAft>
                <a:spcPts val="800"/>
              </a:spcAft>
              <a:defRPr sz="2200"/>
            </a:pPr>
            <a:r>
              <a:t>Handles create, read, update and delete operations</a:t>
            </a:r>
          </a:p>
          <a:p>
            <a:pPr>
              <a:spcAft>
                <a:spcPts val="800"/>
              </a:spcAft>
              <a:defRPr sz="2200"/>
            </a:pPr>
            <a:r>
              <a:t>Can use @Transactional for transaction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 &amp; REST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Uses @RestController</a:t>
            </a:r>
          </a:p>
          <a:p>
            <a:pPr>
              <a:spcAft>
                <a:spcPts val="800"/>
              </a:spcAft>
              <a:defRPr sz="2200"/>
            </a:pPr>
            <a:r>
              <a:t>GET – retrieve data</a:t>
            </a:r>
          </a:p>
          <a:p>
            <a:pPr>
              <a:spcAft>
                <a:spcPts val="800"/>
              </a:spcAft>
              <a:defRPr sz="2200"/>
            </a:pPr>
            <a:r>
              <a:t>POST – create data</a:t>
            </a:r>
          </a:p>
          <a:p>
            <a:pPr>
              <a:spcAft>
                <a:spcPts val="800"/>
              </a:spcAft>
              <a:defRPr sz="2200"/>
            </a:pPr>
            <a:r>
              <a:t>PUT – update data</a:t>
            </a:r>
          </a:p>
          <a:p>
            <a:pPr>
              <a:spcAft>
                <a:spcPts val="800"/>
              </a:spcAft>
              <a:defRPr sz="2200"/>
            </a:pPr>
            <a:r>
              <a:t>DELETE – remove data</a:t>
            </a:r>
          </a:p>
          <a:p>
            <a:pPr>
              <a:spcAft>
                <a:spcPts val="800"/>
              </a:spcAft>
              <a:defRPr sz="2200"/>
            </a:pPr>
            <a:r>
              <a:t>Uses appropriate HTTP status codes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Custom ResourceNotFoundException for missing records</a:t>
            </a:r>
          </a:p>
          <a:p>
            <a:pPr>
              <a:spcAft>
                <a:spcPts val="800"/>
              </a:spcAft>
              <a:defRPr sz="2200"/>
            </a:pPr>
            <a:r>
              <a:t>@ControllerAdvice can provide centralized exception handling</a:t>
            </a:r>
          </a:p>
          <a:p>
            <a:pPr>
              <a:spcAft>
                <a:spcPts val="800"/>
              </a:spcAft>
              <a:defRPr sz="2200"/>
            </a:pPr>
            <a:r>
              <a:t>Returns clear and consistent error responses</a:t>
            </a:r>
          </a:p>
          <a:p>
            <a:pPr>
              <a:spcAft>
                <a:spcPts val="800"/>
              </a:spcAft>
              <a:defRPr sz="2200"/>
            </a:pPr>
            <a:r>
              <a:t>Improves API usability and debugging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AOP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AOP can separate cross-cutting concerns from business logic</a:t>
            </a:r>
          </a:p>
          <a:p>
            <a:pPr>
              <a:spcAft>
                <a:spcPts val="800"/>
              </a:spcAft>
              <a:defRPr sz="2200"/>
            </a:pPr>
            <a:r>
              <a:t>Logging records important application events</a:t>
            </a:r>
          </a:p>
          <a:p>
            <a:pPr>
              <a:spcAft>
                <a:spcPts val="800"/>
              </a:spcAft>
              <a:defRPr sz="2200"/>
            </a:pPr>
            <a:r>
              <a:t>Useful for tracing API calls and errors</a:t>
            </a:r>
          </a:p>
          <a:p>
            <a:pPr>
              <a:spcAft>
                <a:spcPts val="800"/>
              </a:spcAft>
              <a:defRPr sz="2200"/>
            </a:pPr>
            <a:r>
              <a:t>Helps with maintenance and troubleshooting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Swagger API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Provides interactive API documentation</a:t>
            </a:r>
          </a:p>
          <a:p>
            <a:pPr>
              <a:spcAft>
                <a:spcPts val="800"/>
              </a:spcAft>
              <a:defRPr sz="2200"/>
            </a:pPr>
            <a:r>
              <a:t>Displays available endpoints and request details</a:t>
            </a:r>
          </a:p>
          <a:p>
            <a:pPr>
              <a:spcAft>
                <a:spcPts val="800"/>
              </a:spcAft>
              <a:defRPr sz="2200"/>
            </a:pPr>
            <a:r>
              <a:t>Allows APIs to be tested from the browser</a:t>
            </a:r>
          </a:p>
          <a:p>
            <a:pPr>
              <a:spcAft>
                <a:spcPts val="800"/>
              </a:spcAft>
              <a:defRPr sz="2200"/>
            </a:pPr>
            <a:r>
              <a:t>Useful for developers and API consumers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@Transactional manages database transactions</a:t>
            </a:r>
          </a:p>
          <a:p>
            <a:pPr>
              <a:spcAft>
                <a:spcPts val="800"/>
              </a:spcAft>
              <a:defRPr sz="2200"/>
            </a:pPr>
            <a:r>
              <a:t>Ensures related database operations are handled safely</a:t>
            </a:r>
          </a:p>
          <a:p>
            <a:pPr>
              <a:spcAft>
                <a:spcPts val="800"/>
              </a:spcAft>
              <a:defRPr sz="2200"/>
            </a:pPr>
            <a:r>
              <a:t>Rollback can occur when a transaction fails</a:t>
            </a:r>
          </a:p>
          <a:p>
            <a:pPr>
              <a:spcAft>
                <a:spcPts val="800"/>
              </a:spcAft>
              <a:defRPr sz="2200"/>
            </a:pPr>
            <a:r>
              <a:t>Useful for operations involving multiple database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Actuator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Provides application monitoring endpoints</a:t>
            </a:r>
          </a:p>
          <a:p>
            <a:pPr>
              <a:spcAft>
                <a:spcPts val="800"/>
              </a:spcAft>
              <a:defRPr sz="2200"/>
            </a:pPr>
            <a:r>
              <a:t>Health endpoint helps check application status</a:t>
            </a:r>
          </a:p>
          <a:p>
            <a:pPr>
              <a:spcAft>
                <a:spcPts val="800"/>
              </a:spcAft>
              <a:defRPr sz="2200"/>
            </a:pPr>
            <a:r>
              <a:t>Can expose metrics and operational information</a:t>
            </a:r>
          </a:p>
          <a:p>
            <a:pPr>
              <a:spcAft>
                <a:spcPts val="800"/>
              </a:spcAft>
              <a:defRPr sz="2200"/>
            </a:pPr>
            <a:r>
              <a:t>Useful for development and deployment monitoring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MySQL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Stores persistent student and course information</a:t>
            </a:r>
          </a:p>
          <a:p>
            <a:pPr>
              <a:spcAft>
                <a:spcPts val="800"/>
              </a:spcAft>
              <a:defRPr sz="2200"/>
            </a:pPr>
            <a:r>
              <a:t>Spring Data JPA handles database interaction</a:t>
            </a:r>
          </a:p>
          <a:p>
            <a:pPr>
              <a:spcAft>
                <a:spcPts val="800"/>
              </a:spcAft>
              <a:defRPr sz="2200"/>
            </a:pPr>
            <a:r>
              <a:t>Database configuration is maintained in application.properties</a:t>
            </a:r>
          </a:p>
          <a:p>
            <a:pPr>
              <a:spcAft>
                <a:spcPts val="800"/>
              </a:spcAft>
              <a:defRPr sz="2200"/>
            </a:pPr>
            <a:r>
              <a:t>Tables are generated/updated according to JPA configuration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Postman API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Test POST requests with JSON request bodies</a:t>
            </a:r>
          </a:p>
          <a:p>
            <a:pPr>
              <a:spcAft>
                <a:spcPts val="800"/>
              </a:spcAft>
              <a:defRPr sz="2200"/>
            </a:pPr>
            <a:r>
              <a:t>Verify GET responses and HTTP status codes</a:t>
            </a:r>
          </a:p>
          <a:p>
            <a:pPr>
              <a:spcAft>
                <a:spcPts val="800"/>
              </a:spcAft>
              <a:defRPr sz="2200"/>
            </a:pPr>
            <a:r>
              <a:t>Test PUT updates and DELETE operations</a:t>
            </a:r>
          </a:p>
          <a:p>
            <a:pPr>
              <a:spcAft>
                <a:spcPts val="800"/>
              </a:spcAft>
              <a:defRPr sz="2200"/>
            </a:pPr>
            <a:r>
              <a:t>Check validation and exception responses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Client sends HTTP request</a:t>
            </a:r>
          </a:p>
          <a:p>
            <a:pPr>
              <a:spcAft>
                <a:spcPts val="800"/>
              </a:spcAft>
              <a:defRPr sz="2200"/>
            </a:pPr>
            <a:r>
              <a:t>Controller receives and validates the request</a:t>
            </a:r>
          </a:p>
          <a:p>
            <a:pPr>
              <a:spcAft>
                <a:spcPts val="800"/>
              </a:spcAft>
              <a:defRPr sz="2200"/>
            </a:pPr>
            <a:r>
              <a:t>Service performs business logic</a:t>
            </a:r>
          </a:p>
          <a:p>
            <a:pPr>
              <a:spcAft>
                <a:spcPts val="800"/>
              </a:spcAft>
              <a:defRPr sz="2200"/>
            </a:pPr>
            <a:r>
              <a:t>Repository communicates with MySQL</a:t>
            </a:r>
          </a:p>
          <a:p>
            <a:pPr>
              <a:spcAft>
                <a:spcPts val="800"/>
              </a:spcAft>
              <a:defRPr sz="2200"/>
            </a:pPr>
            <a:r>
              <a:t>Response DTO is returned to the client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200"/>
            </a:pPr>
            <a:r>
              <a:t>Spring Boot provides a clean layered architecture</a:t>
            </a:r>
          </a:p>
          <a:p>
            <a:pPr>
              <a:spcAft>
                <a:spcPts val="800"/>
              </a:spcAft>
              <a:defRPr sz="2200"/>
            </a:pPr>
            <a:r>
              <a:t>REST APIs simplify student and course management</a:t>
            </a:r>
          </a:p>
          <a:p>
            <a:pPr>
              <a:spcAft>
                <a:spcPts val="800"/>
              </a:spcAft>
              <a:defRPr sz="2200"/>
            </a:pPr>
            <a:r>
              <a:t>Validation, exception handling, AOP, Swagger and Actuator improve the project</a:t>
            </a:r>
          </a:p>
          <a:p>
            <a:pPr>
              <a:spcAft>
                <a:spcPts val="800"/>
              </a:spcAft>
              <a:defRPr sz="2200"/>
            </a:pPr>
            <a:r>
              <a:t>Future: authentication, role-based access, frontend UI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